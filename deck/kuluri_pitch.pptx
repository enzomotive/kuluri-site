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DM Serif Display" charset="1" panose="00000000000000000000"/>
      <p:regular r:id="rId27"/>
    </p:embeddedFont>
    <p:embeddedFont>
      <p:font typeface="Montserrat" charset="1" panose="00000500000000000000"/>
      <p:regular r:id="rId28"/>
    </p:embeddedFont>
    <p:embeddedFont>
      <p:font typeface="Arimo" charset="1" panose="020B0604020202020204"/>
      <p:regular r:id="rId29"/>
    </p:embeddedFont>
    <p:embeddedFont>
      <p:font typeface="Montserrat Bold" charset="1" panose="00000800000000000000"/>
      <p:regular r:id="rId30"/>
    </p:embeddedFont>
    <p:embeddedFont>
      <p:font typeface="Arimo Bold" charset="1" panose="020B0704020202020204"/>
      <p:regular r:id="rId31"/>
    </p:embeddedFont>
    <p:embeddedFont>
      <p:font typeface="Arimo Italics" charset="1" panose="020B0604020202090204"/>
      <p:regular r:id="rId32"/>
    </p:embeddedFont>
    <p:embeddedFont>
      <p:font typeface="Montserrat Italics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Kastelli Valley olive groves, Cret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" t="-17454" r="-590" b="-1745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73C2B">
                    <a:alpha val="92000"/>
                  </a:srgbClr>
                </a:gs>
                <a:gs pos="58000">
                  <a:srgbClr val="173C2B">
                    <a:alpha val="25000"/>
                  </a:srgbClr>
                </a:gs>
                <a:gs pos="100000">
                  <a:srgbClr val="173C2B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2565720"/>
            <a:ext cx="9442178" cy="15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2"/>
              </a:lnSpc>
            </a:pPr>
            <a:r>
              <a:rPr lang="en-US" sz="12022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KULURI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762500"/>
            <a:ext cx="7143750" cy="8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968" strike="noStrike" u="non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rPr>
              <a:t>No harvest lost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968" strike="noStrike" u="none">
                <a:solidFill>
                  <a:srgbClr val="FFFAF0"/>
                </a:solidFill>
                <a:latin typeface="Montserrat"/>
                <a:ea typeface="Montserrat"/>
                <a:cs typeface="Montserrat"/>
                <a:sym typeface="Montserrat"/>
              </a:rPr>
              <a:t>for lack of hands.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818628"/>
            <a:ext cx="15240000" cy="143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7"/>
              </a:lnSpc>
              <a:spcBef>
                <a:spcPct val="0"/>
              </a:spcBef>
            </a:pPr>
            <a:r>
              <a:rPr lang="en-US" sz="2719" strike="noStrike" u="none">
                <a:solidFill>
                  <a:srgbClr val="FFFAF0"/>
                </a:solidFill>
                <a:latin typeface="Arimo"/>
                <a:ea typeface="Arimo"/>
                <a:cs typeface="Arimo"/>
                <a:sym typeface="Arimo"/>
              </a:rPr>
              <a:t>EU Agri Hackathon · Challenge 3: Flowing Data, Empowered Collaboration</a:t>
            </a:r>
          </a:p>
          <a:p>
            <a:pPr algn="l" marL="0" indent="0" lvl="0">
              <a:lnSpc>
                <a:spcPts val="380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07"/>
              </a:lnSpc>
              <a:spcBef>
                <a:spcPct val="0"/>
              </a:spcBef>
            </a:pPr>
            <a:r>
              <a:rPr lang="en-US" sz="2719" strike="noStrike" u="none">
                <a:solidFill>
                  <a:srgbClr val="FFFAF0"/>
                </a:solidFill>
                <a:latin typeface="Arimo"/>
                <a:ea typeface="Arimo"/>
                <a:cs typeface="Arimo"/>
                <a:sym typeface="Arimo"/>
              </a:rPr>
              <a:t>Co-founders: Linda Angulo López · Maria Filippou · Ayushman Bhaba Padhy · Juan Zotes Orcajo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Work tools in Maria's olive grove"/>
          <p:cNvSpPr/>
          <p:nvPr/>
        </p:nvSpPr>
        <p:spPr>
          <a:xfrm flipH="false" flipV="false" rot="0">
            <a:off x="0" y="0"/>
            <a:ext cx="9144000" cy="7239000"/>
          </a:xfrm>
          <a:custGeom>
            <a:avLst/>
            <a:gdLst/>
            <a:ahLst/>
            <a:cxnLst/>
            <a:rect r="r" b="b" t="t" l="l"/>
            <a:pathLst>
              <a:path h="7239000" w="9144000">
                <a:moveTo>
                  <a:pt x="0" y="0"/>
                </a:moveTo>
                <a:lnTo>
                  <a:pt x="9144000" y="0"/>
                </a:lnTo>
                <a:lnTo>
                  <a:pt x="9144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1" t="-36488" r="-1181" b="-3648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 descr="Century-old olive tree in Kastelli Valley"/>
          <p:cNvSpPr/>
          <p:nvPr/>
        </p:nvSpPr>
        <p:spPr>
          <a:xfrm flipH="false" flipV="false" rot="0">
            <a:off x="9144000" y="0"/>
            <a:ext cx="9144000" cy="7239000"/>
          </a:xfrm>
          <a:custGeom>
            <a:avLst/>
            <a:gdLst/>
            <a:ahLst/>
            <a:cxnLst/>
            <a:rect r="r" b="b" t="t" l="l"/>
            <a:pathLst>
              <a:path h="7239000" w="9144000">
                <a:moveTo>
                  <a:pt x="0" y="0"/>
                </a:moveTo>
                <a:lnTo>
                  <a:pt x="9144000" y="0"/>
                </a:lnTo>
                <a:lnTo>
                  <a:pt x="9144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52" t="-1491" r="-4352" b="-149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952500" y="7715250"/>
            <a:ext cx="16383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5:47 a.m., Kastelli Valley, Crete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8782050"/>
            <a:ext cx="7685852" cy="78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5"/>
              </a:lnSpc>
              <a:spcBef>
                <a:spcPct val="0"/>
              </a:spcBef>
            </a:pPr>
            <a:r>
              <a:rPr lang="en-US" sz="2388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Nikos, 35 · seasonal worker</a:t>
            </a:r>
          </a:p>
          <a:p>
            <a:pPr algn="l" marL="0" indent="0" lvl="0">
              <a:lnSpc>
                <a:spcPts val="3105"/>
              </a:lnSpc>
              <a:spcBef>
                <a:spcPct val="0"/>
              </a:spcBef>
            </a:pPr>
            <a:r>
              <a:rPr lang="en-US" sz="2388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Last season: no contract, 3 days unpaid.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49648" y="8782050"/>
            <a:ext cx="7685852" cy="78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5"/>
              </a:lnSpc>
              <a:spcBef>
                <a:spcPct val="0"/>
              </a:spcBef>
            </a:pPr>
            <a:r>
              <a:rPr lang="en-US" sz="2388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Maria · organic olive grower</a:t>
            </a:r>
          </a:p>
          <a:p>
            <a:pPr algn="l" marL="0" indent="0" lvl="0">
              <a:lnSpc>
                <a:spcPts val="3105"/>
              </a:lnSpc>
              <a:spcBef>
                <a:spcPct val="0"/>
              </a:spcBef>
            </a:pPr>
            <a:r>
              <a:rPr lang="en-US" sz="2388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Trees 100+ years old. Needs 4 workers in 2 weeks.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57250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Maria and Nikos are not alone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571750"/>
            <a:ext cx="4911687" cy="4127174"/>
            <a:chOff x="0" y="0"/>
            <a:chExt cx="6548916" cy="550289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548916" cy="5502899"/>
              <a:chOff x="0" y="0"/>
              <a:chExt cx="5894489" cy="495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894489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5894489">
                    <a:moveTo>
                      <a:pt x="0" y="0"/>
                    </a:moveTo>
                    <a:lnTo>
                      <a:pt x="5894489" y="0"/>
                    </a:lnTo>
                    <a:lnTo>
                      <a:pt x="5894489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BE5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894489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637050"/>
              <a:ext cx="6548916" cy="2374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932"/>
                </a:lnSpc>
              </a:pPr>
              <a:r>
                <a:rPr lang="en-US" sz="10665">
                  <a:solidFill>
                    <a:srgbClr val="173C2B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95k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678124"/>
              <a:ext cx="5170604" cy="461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3"/>
                </a:lnSpc>
              </a:pPr>
              <a:r>
                <a:rPr lang="en-US" sz="2333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olive families in Crete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50057" y="2571750"/>
            <a:ext cx="4911687" cy="4127174"/>
            <a:chOff x="0" y="0"/>
            <a:chExt cx="6548916" cy="550289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548916" cy="5502899"/>
              <a:chOff x="0" y="0"/>
              <a:chExt cx="5894489" cy="495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894489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5894489">
                    <a:moveTo>
                      <a:pt x="0" y="0"/>
                    </a:moveTo>
                    <a:lnTo>
                      <a:pt x="5894489" y="0"/>
                    </a:lnTo>
                    <a:lnTo>
                      <a:pt x="5894489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AD8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894489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637050"/>
              <a:ext cx="6548916" cy="2374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932"/>
                </a:lnSpc>
              </a:pPr>
              <a:r>
                <a:rPr lang="en-US" sz="10665">
                  <a:solidFill>
                    <a:srgbClr val="C65D3B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10k+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678124"/>
              <a:ext cx="6548916" cy="461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3"/>
                </a:lnSpc>
              </a:pPr>
              <a:r>
                <a:rPr lang="en-US" sz="2333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workers missing each harvest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7613" y="2571750"/>
            <a:ext cx="4911687" cy="4465814"/>
            <a:chOff x="0" y="0"/>
            <a:chExt cx="6548916" cy="595441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548916" cy="5954419"/>
              <a:chOff x="0" y="0"/>
              <a:chExt cx="5894489" cy="5359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94489" cy="5359400"/>
              </a:xfrm>
              <a:custGeom>
                <a:avLst/>
                <a:gdLst/>
                <a:ahLst/>
                <a:cxnLst/>
                <a:rect r="r" b="b" t="t" l="l"/>
                <a:pathLst>
                  <a:path h="5359400" w="5894489">
                    <a:moveTo>
                      <a:pt x="0" y="0"/>
                    </a:moveTo>
                    <a:lnTo>
                      <a:pt x="5894489" y="0"/>
                    </a:lnTo>
                    <a:lnTo>
                      <a:pt x="5894489" y="5359400"/>
                    </a:lnTo>
                    <a:lnTo>
                      <a:pt x="0" y="5359400"/>
                    </a:lnTo>
                    <a:close/>
                  </a:path>
                </a:pathLst>
              </a:custGeom>
              <a:solidFill>
                <a:srgbClr val="EBE5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894489" cy="5397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637050"/>
              <a:ext cx="6548916" cy="2374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932"/>
                </a:lnSpc>
              </a:pPr>
              <a:r>
                <a:rPr lang="en-US" sz="10665">
                  <a:solidFill>
                    <a:srgbClr val="173C2B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39%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678124"/>
              <a:ext cx="6548916" cy="913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3"/>
                </a:lnSpc>
              </a:pPr>
              <a:r>
                <a:rPr lang="en-US" sz="2333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of EU farmers share no data digitally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76500" y="7467600"/>
            <a:ext cx="13335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20"/>
              </a:lnSpc>
              <a:spcBef>
                <a:spcPct val="0"/>
              </a:spcBef>
            </a:pPr>
            <a:r>
              <a:rPr lang="en-US" sz="330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Since 2025, CAP payments depend on fair labour (social conditionality). Proof is still on paper.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1149" y="840475"/>
            <a:ext cx="10109628" cy="272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Where farmers and workers:</a:t>
            </a:r>
          </a:p>
          <a:p>
            <a:pPr algn="l" marL="1133475" indent="-566738" lvl="1">
              <a:lnSpc>
                <a:spcPts val="5355"/>
              </a:lnSpc>
              <a:spcBef>
                <a:spcPct val="0"/>
              </a:spcBef>
              <a:buAutoNum type="arabicPeriod" startAt="1"/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find each other,</a:t>
            </a: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</a:p>
          <a:p>
            <a:pPr algn="l" marL="1133475" indent="-566738" lvl="1">
              <a:lnSpc>
                <a:spcPts val="5355"/>
              </a:lnSpc>
              <a:spcBef>
                <a:spcPct val="0"/>
              </a:spcBef>
              <a:buAutoNum type="arabicPeriod" startAt="1"/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agree, and </a:t>
            </a:r>
          </a:p>
          <a:p>
            <a:pPr algn="l" marL="1133475" indent="-566738" lvl="1">
              <a:lnSpc>
                <a:spcPts val="5355"/>
              </a:lnSpc>
              <a:spcBef>
                <a:spcPct val="0"/>
              </a:spcBef>
              <a:buAutoNum type="arabicPeriod" startAt="1"/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hold to it.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81777"/>
            <a:ext cx="4953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801002"/>
            <a:ext cx="4953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Profiles, job posts, matching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43700" y="4381777"/>
            <a:ext cx="4953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AGREE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43700" y="5801002"/>
            <a:ext cx="49530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Clear terms before anyone shows 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58700" y="4381777"/>
            <a:ext cx="4953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58700" y="5801002"/>
            <a:ext cx="49530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Signed, recorded, can't be quietly changed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096250"/>
            <a:ext cx="163830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Everything else follows from these three.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000125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Maria and Nikos open Kuluri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43250" y="2190750"/>
            <a:ext cx="2857500" cy="2907030"/>
            <a:chOff x="0" y="0"/>
            <a:chExt cx="3810000" cy="387604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635000" y="0"/>
              <a:ext cx="2540000" cy="2540000"/>
              <a:chOff x="0" y="0"/>
              <a:chExt cx="2540000" cy="254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270000" y="0"/>
                    </a:moveTo>
                    <a:cubicBezTo>
                      <a:pt x="1971402" y="0"/>
                      <a:pt x="2540000" y="568598"/>
                      <a:pt x="2540000" y="1270000"/>
                    </a:cubicBezTo>
                    <a:cubicBezTo>
                      <a:pt x="2540000" y="1971402"/>
                      <a:pt x="1971402" y="2540000"/>
                      <a:pt x="1270000" y="2540000"/>
                    </a:cubicBezTo>
                    <a:cubicBezTo>
                      <a:pt x="568598" y="2540000"/>
                      <a:pt x="0" y="1971402"/>
                      <a:pt x="0" y="1270000"/>
                    </a:cubicBezTo>
                    <a:cubicBezTo>
                      <a:pt x="0" y="568598"/>
                      <a:pt x="568598" y="0"/>
                      <a:pt x="1270000" y="0"/>
                    </a:cubicBezTo>
                    <a:close/>
                  </a:path>
                </a:pathLst>
              </a:custGeom>
              <a:solidFill>
                <a:srgbClr val="7891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04775"/>
                <a:ext cx="2540000" cy="2644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59"/>
                  </a:lnSpc>
                </a:pPr>
                <a:r>
                  <a:rPr lang="en-US" sz="5400">
                    <a:solidFill>
                      <a:srgbClr val="173C2B"/>
                    </a:solidFill>
                    <a:latin typeface="DM Serif Display"/>
                    <a:ea typeface="DM Serif Display"/>
                    <a:cs typeface="DM Serif Display"/>
                    <a:sym typeface="DM Serif Display"/>
                  </a:rPr>
                  <a:t>1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33178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Job Post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524500" y="3143250"/>
            <a:ext cx="3143250" cy="2047875"/>
          </a:xfrm>
          <a:prstGeom prst="line">
            <a:avLst/>
          </a:prstGeom>
          <a:ln cap="rnd" w="47625">
            <a:solidFill>
              <a:srgbClr val="C65D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191500" y="4238625"/>
            <a:ext cx="2857500" cy="2907030"/>
            <a:chOff x="0" y="0"/>
            <a:chExt cx="3810000" cy="387604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635000" y="0"/>
              <a:ext cx="2540000" cy="2540000"/>
              <a:chOff x="0" y="0"/>
              <a:chExt cx="2540000" cy="254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270000" y="0"/>
                    </a:moveTo>
                    <a:cubicBezTo>
                      <a:pt x="1971402" y="0"/>
                      <a:pt x="2540000" y="568598"/>
                      <a:pt x="2540000" y="1270000"/>
                    </a:cubicBezTo>
                    <a:cubicBezTo>
                      <a:pt x="2540000" y="1971402"/>
                      <a:pt x="1971402" y="2540000"/>
                      <a:pt x="1270000" y="2540000"/>
                    </a:cubicBezTo>
                    <a:cubicBezTo>
                      <a:pt x="568598" y="2540000"/>
                      <a:pt x="0" y="1971402"/>
                      <a:pt x="0" y="1270000"/>
                    </a:cubicBezTo>
                    <a:cubicBezTo>
                      <a:pt x="0" y="568598"/>
                      <a:pt x="568598" y="0"/>
                      <a:pt x="1270000" y="0"/>
                    </a:cubicBezTo>
                    <a:close/>
                  </a:path>
                </a:pathLst>
              </a:custGeom>
              <a:solidFill>
                <a:srgbClr val="6F8F6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2540000" cy="2644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59"/>
                  </a:lnSpc>
                </a:pPr>
                <a:r>
                  <a:rPr lang="en-US" sz="5400">
                    <a:solidFill>
                      <a:srgbClr val="173C2B"/>
                    </a:solidFill>
                    <a:latin typeface="DM Serif Display"/>
                    <a:ea typeface="DM Serif Display"/>
                    <a:cs typeface="DM Serif Display"/>
                    <a:sym typeface="DM Serif Display"/>
                  </a:rPr>
                  <a:t>2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3178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Match in hours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5524500" y="5191125"/>
            <a:ext cx="3143250" cy="2047875"/>
          </a:xfrm>
          <a:prstGeom prst="line">
            <a:avLst/>
          </a:prstGeom>
          <a:ln cap="rnd" w="47625">
            <a:solidFill>
              <a:srgbClr val="C65D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1430000" y="4238625"/>
            <a:ext cx="2857500" cy="3354705"/>
            <a:chOff x="0" y="0"/>
            <a:chExt cx="3810000" cy="447294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635000" y="0"/>
              <a:ext cx="2540000" cy="2540000"/>
              <a:chOff x="0" y="0"/>
              <a:chExt cx="2540000" cy="254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270000" y="0"/>
                    </a:moveTo>
                    <a:cubicBezTo>
                      <a:pt x="1971402" y="0"/>
                      <a:pt x="2540000" y="568598"/>
                      <a:pt x="2540000" y="1270000"/>
                    </a:cubicBezTo>
                    <a:cubicBezTo>
                      <a:pt x="2540000" y="1971402"/>
                      <a:pt x="1971402" y="2540000"/>
                      <a:pt x="1270000" y="2540000"/>
                    </a:cubicBezTo>
                    <a:cubicBezTo>
                      <a:pt x="568598" y="2540000"/>
                      <a:pt x="0" y="1971402"/>
                      <a:pt x="0" y="1270000"/>
                    </a:cubicBezTo>
                    <a:cubicBezTo>
                      <a:pt x="0" y="568598"/>
                      <a:pt x="568598" y="0"/>
                      <a:pt x="1270000" y="0"/>
                    </a:cubicBezTo>
                    <a:close/>
                  </a:path>
                </a:pathLst>
              </a:custGeom>
              <a:solidFill>
                <a:srgbClr val="6F8F6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2540000" cy="2644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59"/>
                  </a:lnSpc>
                </a:pPr>
                <a:r>
                  <a:rPr lang="en-US" sz="5400">
                    <a:solidFill>
                      <a:srgbClr val="173C2B"/>
                    </a:solidFill>
                    <a:latin typeface="DM Serif Display"/>
                    <a:ea typeface="DM Serif Display"/>
                    <a:cs typeface="DM Serif Display"/>
                    <a:sym typeface="DM Serif Display"/>
                  </a:rPr>
                  <a:t>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3317875"/>
              <a:ext cx="3810000" cy="1155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Transparent agreement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572750" y="5191125"/>
            <a:ext cx="1333500" cy="0"/>
          </a:xfrm>
          <a:prstGeom prst="line">
            <a:avLst/>
          </a:prstGeom>
          <a:ln cap="rnd" w="47625">
            <a:solidFill>
              <a:srgbClr val="C65D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668500" y="4238625"/>
            <a:ext cx="2857500" cy="2907030"/>
            <a:chOff x="0" y="0"/>
            <a:chExt cx="3810000" cy="387604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635000" y="0"/>
              <a:ext cx="2540000" cy="2540000"/>
              <a:chOff x="0" y="0"/>
              <a:chExt cx="2540000" cy="254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270000" y="0"/>
                    </a:moveTo>
                    <a:cubicBezTo>
                      <a:pt x="1971402" y="0"/>
                      <a:pt x="2540000" y="568598"/>
                      <a:pt x="2540000" y="1270000"/>
                    </a:cubicBezTo>
                    <a:cubicBezTo>
                      <a:pt x="2540000" y="1971402"/>
                      <a:pt x="1971402" y="2540000"/>
                      <a:pt x="1270000" y="2540000"/>
                    </a:cubicBezTo>
                    <a:cubicBezTo>
                      <a:pt x="568598" y="2540000"/>
                      <a:pt x="0" y="1971402"/>
                      <a:pt x="0" y="1270000"/>
                    </a:cubicBezTo>
                    <a:cubicBezTo>
                      <a:pt x="0" y="568598"/>
                      <a:pt x="568598" y="0"/>
                      <a:pt x="1270000" y="0"/>
                    </a:cubicBezTo>
                    <a:close/>
                  </a:path>
                </a:pathLst>
              </a:custGeom>
              <a:solidFill>
                <a:srgbClr val="6F8F6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2540000" cy="2644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59"/>
                  </a:lnSpc>
                </a:pPr>
                <a:r>
                  <a:rPr lang="en-US" sz="5400">
                    <a:solidFill>
                      <a:srgbClr val="173C2B"/>
                    </a:solidFill>
                    <a:latin typeface="DM Serif Display"/>
                    <a:ea typeface="DM Serif Display"/>
                    <a:cs typeface="DM Serif Display"/>
                    <a:sym typeface="DM Serif Display"/>
                  </a:rPr>
                  <a:t>4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33178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Shared record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811250" y="5162550"/>
            <a:ext cx="1333500" cy="47625"/>
            <a:chOff x="0" y="0"/>
            <a:chExt cx="1778000" cy="63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8000" cy="63500"/>
            </a:xfrm>
            <a:custGeom>
              <a:avLst/>
              <a:gdLst/>
              <a:ahLst/>
              <a:cxnLst/>
              <a:rect r="r" b="b" t="t" l="l"/>
              <a:pathLst>
                <a:path h="635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C65D3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78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19500" y="6286500"/>
            <a:ext cx="1905000" cy="1905000"/>
            <a:chOff x="0" y="0"/>
            <a:chExt cx="2540000" cy="254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1270000" y="0"/>
                  </a:moveTo>
                  <a:cubicBezTo>
                    <a:pt x="1971402" y="0"/>
                    <a:pt x="2540000" y="568598"/>
                    <a:pt x="2540000" y="1270000"/>
                  </a:cubicBezTo>
                  <a:cubicBezTo>
                    <a:pt x="2540000" y="1971402"/>
                    <a:pt x="1971402" y="2540000"/>
                    <a:pt x="1270000" y="2540000"/>
                  </a:cubicBezTo>
                  <a:cubicBezTo>
                    <a:pt x="568598" y="2540000"/>
                    <a:pt x="0" y="1971402"/>
                    <a:pt x="0" y="1270000"/>
                  </a:cubicBez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solidFill>
              <a:srgbClr val="78917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33350"/>
              <a:ext cx="2540000" cy="2673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559"/>
                </a:lnSpc>
                <a:spcBef>
                  <a:spcPct val="0"/>
                </a:spcBef>
              </a:pPr>
              <a:r>
                <a:rPr lang="en-US" sz="5400">
                  <a:solidFill>
                    <a:srgbClr val="173C2B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143250" y="8601075"/>
            <a:ext cx="3153207" cy="5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9"/>
              </a:lnSpc>
            </a:pPr>
            <a:r>
              <a:rPr lang="en-US" sz="281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Profile - CV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6908" y="2517254"/>
            <a:ext cx="2571592" cy="9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65"/>
              </a:lnSpc>
            </a:pPr>
            <a:r>
              <a:rPr lang="en-US" sz="2761" b="true">
                <a:solidFill>
                  <a:srgbClr val="E8A07F"/>
                </a:solidFill>
                <a:latin typeface="Arimo Bold"/>
                <a:ea typeface="Arimo Bold"/>
                <a:cs typeface="Arimo Bold"/>
                <a:sym typeface="Arimo Bold"/>
              </a:rPr>
              <a:t>MARIA</a:t>
            </a:r>
          </a:p>
          <a:p>
            <a:pPr algn="r">
              <a:lnSpc>
                <a:spcPts val="3865"/>
              </a:lnSpc>
            </a:pPr>
            <a:r>
              <a:rPr lang="en-US" sz="2761" b="true">
                <a:solidFill>
                  <a:srgbClr val="E8A07F"/>
                </a:solidFill>
                <a:latin typeface="Arimo Bold"/>
                <a:ea typeface="Arimo Bold"/>
                <a:cs typeface="Arimo Bold"/>
                <a:sym typeface="Arimo Bold"/>
              </a:rPr>
              <a:t>employer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6908" y="6613004"/>
            <a:ext cx="2571592" cy="98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65"/>
              </a:lnSpc>
            </a:pPr>
            <a:r>
              <a:rPr lang="en-US" sz="2761" b="true">
                <a:solidFill>
                  <a:srgbClr val="E8A07F"/>
                </a:solidFill>
                <a:latin typeface="Arimo Bold"/>
                <a:ea typeface="Arimo Bold"/>
                <a:cs typeface="Arimo Bold"/>
                <a:sym typeface="Arimo Bold"/>
              </a:rPr>
              <a:t>NIKOS</a:t>
            </a:r>
          </a:p>
          <a:p>
            <a:pPr algn="r">
              <a:lnSpc>
                <a:spcPts val="3865"/>
              </a:lnSpc>
            </a:pPr>
            <a:r>
              <a:rPr lang="en-US" sz="2761" b="true">
                <a:solidFill>
                  <a:srgbClr val="E8A07F"/>
                </a:solidFill>
                <a:latin typeface="Arimo Bold"/>
                <a:ea typeface="Arimo Bold"/>
                <a:cs typeface="Arimo Bold"/>
                <a:sym typeface="Arimo Bold"/>
              </a:rPr>
              <a:t>worker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000250"/>
            <a:ext cx="13335000" cy="7505700"/>
            <a:chOff x="0" y="0"/>
            <a:chExt cx="17780000" cy="1000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00" cy="10007600"/>
            </a:xfrm>
            <a:custGeom>
              <a:avLst/>
              <a:gdLst/>
              <a:ahLst/>
              <a:cxnLst/>
              <a:rect r="r" b="b" t="t" l="l"/>
              <a:pathLst>
                <a:path h="10007600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10007600"/>
                  </a:lnTo>
                  <a:lnTo>
                    <a:pt x="0" y="10007600"/>
                  </a:lnTo>
                  <a:close/>
                </a:path>
              </a:pathLst>
            </a:custGeom>
            <a:solidFill>
              <a:srgbClr val="173C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80000" cy="1004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48500" y="4000500"/>
            <a:ext cx="1333500" cy="1333500"/>
            <a:chOff x="0" y="0"/>
            <a:chExt cx="1778000" cy="177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778000">
                  <a:moveTo>
                    <a:pt x="889000" y="0"/>
                  </a:moveTo>
                  <a:cubicBezTo>
                    <a:pt x="1379981" y="0"/>
                    <a:pt x="1778000" y="398019"/>
                    <a:pt x="1778000" y="889000"/>
                  </a:cubicBezTo>
                  <a:cubicBezTo>
                    <a:pt x="1778000" y="1379981"/>
                    <a:pt x="1379981" y="1778000"/>
                    <a:pt x="889000" y="1778000"/>
                  </a:cubicBezTo>
                  <a:cubicBezTo>
                    <a:pt x="398019" y="1778000"/>
                    <a:pt x="0" y="1379981"/>
                    <a:pt x="0" y="889000"/>
                  </a:cubicBez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C65D3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778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59"/>
                </a:lnSpc>
              </a:pPr>
              <a:r>
                <a:rPr lang="en-US" sz="3900">
                  <a:solidFill>
                    <a:srgbClr val="FFFAF0"/>
                  </a:solidFill>
                  <a:latin typeface="Arimo"/>
                  <a:ea typeface="Arimo"/>
                  <a:cs typeface="Arimo"/>
                  <a:sym typeface="Arimo"/>
                </a:rPr>
                <a:t>▶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81250" y="4524375"/>
            <a:ext cx="10477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90-SECOND PRODUCT FILM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382750" y="5048250"/>
            <a:ext cx="2667000" cy="3175635"/>
            <a:chOff x="0" y="0"/>
            <a:chExt cx="3556000" cy="423418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54000" y="0"/>
              <a:ext cx="3048000" cy="3048000"/>
              <a:chOff x="0" y="0"/>
              <a:chExt cx="3048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048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304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AF0"/>
              </a:solidFill>
              <a:ln w="133350" cap="sq">
                <a:solidFill>
                  <a:srgbClr val="173C2B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048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819525"/>
              <a:ext cx="3556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2100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Scan to try Kuluri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62000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changed for Maria and Nikos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9000" y="2352675"/>
            <a:ext cx="333375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BEFORE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77750" y="2352675"/>
            <a:ext cx="3810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KULURI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2905125"/>
            <a:ext cx="16455874" cy="1312875"/>
            <a:chOff x="0" y="0"/>
            <a:chExt cx="21941165" cy="1750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941165" cy="1750500"/>
              <a:chOff x="0" y="0"/>
              <a:chExt cx="17510320" cy="139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51032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7510320">
                    <a:moveTo>
                      <a:pt x="0" y="0"/>
                    </a:moveTo>
                    <a:lnTo>
                      <a:pt x="17510320" y="0"/>
                    </a:lnTo>
                    <a:lnTo>
                      <a:pt x="1751032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51032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16263" y="407366"/>
              <a:ext cx="6453284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Finding workers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389269" y="397841"/>
              <a:ext cx="4517299" cy="52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7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487881" y="407366"/>
              <a:ext cx="4517299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hours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50" y="4635733"/>
            <a:ext cx="16455874" cy="1312875"/>
            <a:chOff x="0" y="0"/>
            <a:chExt cx="21941165" cy="1750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1941165" cy="1750500"/>
              <a:chOff x="0" y="0"/>
              <a:chExt cx="17510320" cy="139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51032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7510320">
                    <a:moveTo>
                      <a:pt x="0" y="0"/>
                    </a:moveTo>
                    <a:lnTo>
                      <a:pt x="17510320" y="0"/>
                    </a:lnTo>
                    <a:lnTo>
                      <a:pt x="1751032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EE6D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751032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16263" y="407366"/>
              <a:ext cx="6453284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Terms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389269" y="397841"/>
              <a:ext cx="4517299" cy="52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7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verbal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487881" y="407366"/>
              <a:ext cx="4517299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transparent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7750" y="6366340"/>
            <a:ext cx="16455874" cy="1312875"/>
            <a:chOff x="0" y="0"/>
            <a:chExt cx="21941165" cy="1750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941165" cy="1750500"/>
              <a:chOff x="0" y="0"/>
              <a:chExt cx="17510320" cy="1397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51032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7510320">
                    <a:moveTo>
                      <a:pt x="0" y="0"/>
                    </a:moveTo>
                    <a:lnTo>
                      <a:pt x="17510320" y="0"/>
                    </a:lnTo>
                    <a:lnTo>
                      <a:pt x="1751032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751032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16263" y="407366"/>
              <a:ext cx="6453284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Worker pay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389269" y="397841"/>
              <a:ext cx="4517299" cy="52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7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unclear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5487881" y="407366"/>
              <a:ext cx="4517299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agreed upfront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7750" y="8096948"/>
            <a:ext cx="16455874" cy="1312875"/>
            <a:chOff x="0" y="0"/>
            <a:chExt cx="21941165" cy="17505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1941165" cy="1750500"/>
              <a:chOff x="0" y="0"/>
              <a:chExt cx="17510320" cy="1397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751032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7510320">
                    <a:moveTo>
                      <a:pt x="0" y="0"/>
                    </a:moveTo>
                    <a:lnTo>
                      <a:pt x="17510320" y="0"/>
                    </a:lnTo>
                    <a:lnTo>
                      <a:pt x="1751032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EE6D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751032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16263" y="407366"/>
              <a:ext cx="6453284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Proof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389269" y="397841"/>
              <a:ext cx="4517299" cy="52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7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paper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487881" y="407366"/>
              <a:ext cx="4517299" cy="521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can’t be changed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66750"/>
            <a:ext cx="147637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Growing harvest by harvest in Crete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43050"/>
            <a:ext cx="95250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Workers matched  •  Farms active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7883" y="1002804"/>
            <a:ext cx="17932234" cy="9614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19125"/>
            <a:ext cx="157162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Free for people. Paid by those who benefit.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4579" y="2666922"/>
            <a:ext cx="4059881" cy="34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309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17450" y="2666922"/>
            <a:ext cx="4720791" cy="34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309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43310" y="2666922"/>
            <a:ext cx="3304554" cy="34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309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6916" y="3547901"/>
            <a:ext cx="16050690" cy="1152418"/>
            <a:chOff x="0" y="0"/>
            <a:chExt cx="21400921" cy="153655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400921" cy="1536557"/>
              <a:chOff x="0" y="0"/>
              <a:chExt cx="19457197" cy="1397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457197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9457197">
                    <a:moveTo>
                      <a:pt x="0" y="0"/>
                    </a:moveTo>
                    <a:lnTo>
                      <a:pt x="19457197" y="0"/>
                    </a:lnTo>
                    <a:lnTo>
                      <a:pt x="19457197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9457197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3551" y="358742"/>
              <a:ext cx="5413174" cy="457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6"/>
                </a:lnSpc>
              </a:pPr>
              <a:r>
                <a:rPr lang="en-US" sz="2309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Workers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427378" y="349217"/>
              <a:ext cx="6294388" cy="46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1"/>
                </a:lnSpc>
                <a:spcBef>
                  <a:spcPct val="0"/>
                </a:spcBef>
              </a:pPr>
              <a:r>
                <a:rPr lang="en-US" sz="2309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Fair work + own agreements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861859" y="358742"/>
              <a:ext cx="4406072" cy="457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6"/>
                </a:lnSpc>
                <a:spcBef>
                  <a:spcPct val="0"/>
                </a:spcBef>
              </a:pPr>
              <a:r>
                <a:rPr lang="en-US" b="true" sz="230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Always €0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6893" y="5067300"/>
            <a:ext cx="16050673" cy="1333500"/>
            <a:chOff x="0" y="0"/>
            <a:chExt cx="21400897" cy="1778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1400897" cy="1778000"/>
              <a:chOff x="0" y="0"/>
              <a:chExt cx="19457176" cy="161651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457175" cy="1616514"/>
              </a:xfrm>
              <a:custGeom>
                <a:avLst/>
                <a:gdLst/>
                <a:ahLst/>
                <a:cxnLst/>
                <a:rect r="r" b="b" t="t" l="l"/>
                <a:pathLst>
                  <a:path h="1616514" w="19457175">
                    <a:moveTo>
                      <a:pt x="0" y="0"/>
                    </a:moveTo>
                    <a:lnTo>
                      <a:pt x="19457175" y="0"/>
                    </a:lnTo>
                    <a:lnTo>
                      <a:pt x="19457175" y="1616514"/>
                    </a:lnTo>
                    <a:lnTo>
                      <a:pt x="0" y="1616514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9457176" cy="16546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3582" y="358339"/>
              <a:ext cx="5413174" cy="457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6"/>
                </a:lnSpc>
              </a:pPr>
              <a:r>
                <a:rPr lang="en-US" sz="2309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Farmers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427409" y="348814"/>
              <a:ext cx="6294388" cy="460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1"/>
                </a:lnSpc>
                <a:spcBef>
                  <a:spcPct val="0"/>
                </a:spcBef>
              </a:pPr>
              <a:r>
                <a:rPr lang="en-US" sz="2309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Agreements + season report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863443" y="136525"/>
              <a:ext cx="5537200" cy="1223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4"/>
                </a:lnSpc>
                <a:spcBef>
                  <a:spcPct val="0"/>
                </a:spcBef>
              </a:pPr>
              <a:r>
                <a:rPr lang="en-US" b="true" sz="209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First 10 free, then €0.20 each</a:t>
              </a:r>
            </a:p>
            <a:p>
              <a:pPr algn="l" marL="0" indent="0" lvl="0">
                <a:lnSpc>
                  <a:spcPts val="2414"/>
                </a:lnSpc>
                <a:spcBef>
                  <a:spcPct val="0"/>
                </a:spcBef>
              </a:pPr>
              <a:r>
                <a:rPr lang="en-US" b="true" sz="209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€8 / season (year 1 free)</a:t>
              </a:r>
            </a:p>
            <a:p>
              <a:pPr algn="l" marL="0" indent="0" lvl="0">
                <a:lnSpc>
                  <a:spcPts val="2414"/>
                </a:lnSpc>
                <a:spcBef>
                  <a:spcPct val="0"/>
                </a:spcBef>
              </a:pPr>
              <a:r>
                <a:rPr lang="en-US" b="true" sz="209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 Prime €10 / month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6893" y="6581775"/>
            <a:ext cx="16050673" cy="1333500"/>
            <a:chOff x="0" y="0"/>
            <a:chExt cx="21400897" cy="1778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400897" cy="1778000"/>
              <a:chOff x="0" y="0"/>
              <a:chExt cx="19457176" cy="161651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457175" cy="1616514"/>
              </a:xfrm>
              <a:custGeom>
                <a:avLst/>
                <a:gdLst/>
                <a:ahLst/>
                <a:cxnLst/>
                <a:rect r="r" b="b" t="t" l="l"/>
                <a:pathLst>
                  <a:path h="1616514" w="19457175">
                    <a:moveTo>
                      <a:pt x="0" y="0"/>
                    </a:moveTo>
                    <a:lnTo>
                      <a:pt x="19457175" y="0"/>
                    </a:lnTo>
                    <a:lnTo>
                      <a:pt x="19457175" y="1616514"/>
                    </a:lnTo>
                    <a:lnTo>
                      <a:pt x="0" y="1616514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9457176" cy="16546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03582" y="364500"/>
              <a:ext cx="5413174" cy="457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6"/>
                </a:lnSpc>
                <a:spcBef>
                  <a:spcPct val="0"/>
                </a:spcBef>
              </a:pPr>
              <a:r>
                <a:rPr lang="en-US" b="true" sz="2309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Co-ops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430643" y="165100"/>
              <a:ext cx="8128000" cy="1382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1"/>
                </a:lnSpc>
                <a:spcBef>
                  <a:spcPct val="0"/>
                </a:spcBef>
              </a:pPr>
              <a:r>
                <a:rPr lang="en-US" sz="2309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Full crews on all member farms</a:t>
              </a:r>
            </a:p>
            <a:p>
              <a:pPr algn="l" marL="0" indent="0" lvl="0">
                <a:lnSpc>
                  <a:spcPts val="2771"/>
                </a:lnSpc>
                <a:spcBef>
                  <a:spcPct val="0"/>
                </a:spcBef>
              </a:pPr>
              <a:r>
                <a:rPr lang="en-US" sz="2309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bigger harvest</a:t>
              </a:r>
            </a:p>
            <a:p>
              <a:pPr algn="l" marL="0" indent="0" lvl="0">
                <a:lnSpc>
                  <a:spcPts val="2771"/>
                </a:lnSpc>
                <a:spcBef>
                  <a:spcPct val="0"/>
                </a:spcBef>
              </a:pPr>
              <a:r>
                <a:rPr lang="en-US" sz="2309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 more oil for the co-op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863443" y="238125"/>
              <a:ext cx="5334000" cy="9040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6"/>
                </a:lnSpc>
                <a:spcBef>
                  <a:spcPct val="0"/>
                </a:spcBef>
              </a:pPr>
              <a:r>
                <a:rPr lang="en-US" b="true" sz="230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Year 1 free</a:t>
              </a:r>
            </a:p>
            <a:p>
              <a:pPr algn="l" marL="0" indent="0" lvl="0">
                <a:lnSpc>
                  <a:spcPts val="2656"/>
                </a:lnSpc>
                <a:spcBef>
                  <a:spcPct val="0"/>
                </a:spcBef>
              </a:pPr>
              <a:r>
                <a:rPr lang="en-US" b="true" sz="2309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then €1,200+ / year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86000" y="8343900"/>
            <a:ext cx="13716000" cy="1143000"/>
            <a:chOff x="0" y="0"/>
            <a:chExt cx="18288000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28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8288000">
                  <a:moveTo>
                    <a:pt x="15875" y="0"/>
                  </a:moveTo>
                  <a:lnTo>
                    <a:pt x="18272125" y="0"/>
                  </a:lnTo>
                  <a:cubicBezTo>
                    <a:pt x="18280892" y="0"/>
                    <a:pt x="18288000" y="7107"/>
                    <a:pt x="18288000" y="15875"/>
                  </a:cubicBezTo>
                  <a:lnTo>
                    <a:pt x="18288000" y="1508125"/>
                  </a:lnTo>
                  <a:cubicBezTo>
                    <a:pt x="18288000" y="1516892"/>
                    <a:pt x="18280892" y="1524000"/>
                    <a:pt x="18272125" y="1524000"/>
                  </a:cubicBezTo>
                  <a:lnTo>
                    <a:pt x="15875" y="1524000"/>
                  </a:lnTo>
                  <a:cubicBezTo>
                    <a:pt x="7107" y="1524000"/>
                    <a:pt x="0" y="1516892"/>
                    <a:pt x="0" y="1508125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C65D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8288000" cy="15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09"/>
                </a:lnSpc>
                <a:spcBef>
                  <a:spcPct val="0"/>
                </a:spcBef>
              </a:pPr>
              <a:r>
                <a:rPr lang="en-US" sz="3150" strike="noStrike" u="none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Grants launch us. The agreement keeps us running. Workers always free.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52500" y="1590675"/>
            <a:ext cx="16050690" cy="49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5"/>
              </a:lnSpc>
              <a:spcBef>
                <a:spcPct val="0"/>
              </a:spcBef>
            </a:pPr>
            <a:r>
              <a:rPr lang="en-US" b="true" sz="2739" strike="noStrike" u="non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Launch: EU grants (e.g. ESF+, EIT Food)  ·  Local business ads (~€360 / season)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5285"/>
            <a:ext cx="1381125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 funding paths: which one should we bet on?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9918" y="572004"/>
            <a:ext cx="15297539" cy="10174941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4277249" y="2667000"/>
            <a:ext cx="3905250" cy="1365885"/>
            <a:chOff x="0" y="0"/>
            <a:chExt cx="5207000" cy="18211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23825"/>
              <a:ext cx="472165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40"/>
                </a:lnSpc>
                <a:spcBef>
                  <a:spcPct val="0"/>
                </a:spcBef>
              </a:pPr>
              <a:r>
                <a:rPr lang="en-US" sz="6600" strike="noStrike" u="none">
                  <a:solidFill>
                    <a:srgbClr val="C65D3B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+€50k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06525"/>
              <a:ext cx="5207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· base case, year 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277213" y="4276725"/>
            <a:ext cx="370595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8A7A66"/>
                </a:solidFill>
                <a:latin typeface="Arimo Bold"/>
                <a:ea typeface="Arimo Bold"/>
                <a:cs typeface="Arimo Bold"/>
                <a:sym typeface="Arimo Bold"/>
              </a:rPr>
              <a:t>A · Grant only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77213" y="4667250"/>
            <a:ext cx="370595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Grant covers part of costs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77213" y="5324475"/>
            <a:ext cx="370595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6F8F6F"/>
                </a:solidFill>
                <a:latin typeface="Arimo Bold"/>
                <a:ea typeface="Arimo Bold"/>
                <a:cs typeface="Arimo Bold"/>
                <a:sym typeface="Arimo Bold"/>
              </a:rPr>
              <a:t>B · Grant + ads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77213" y="5715000"/>
            <a:ext cx="370595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Ads alone don't cover costs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7213" y="6372225"/>
            <a:ext cx="370595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C · Kuluri mix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77213" y="6762750"/>
            <a:ext cx="370595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Grants + ads +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agreements + reports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9591675"/>
            <a:ext cx="12763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i="true" strike="noStrike" u="non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Ads also bring local businesses customers in the low season · Illustrative figures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55114" y="1276107"/>
            <a:ext cx="10124438" cy="51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4"/>
              </a:lnSpc>
              <a:spcBef>
                <a:spcPct val="0"/>
              </a:spcBef>
            </a:pPr>
            <a:r>
              <a:rPr lang="en-US" b="true" sz="296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Profit after costs · cumulative, 5 years (€k)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77213" y="7705725"/>
            <a:ext cx="370522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7FA3"/>
                </a:solidFill>
                <a:latin typeface="Arimo Bold"/>
                <a:ea typeface="Arimo Bold"/>
                <a:cs typeface="Arimo Bold"/>
                <a:sym typeface="Arimo Bold"/>
              </a:rPr>
              <a:t>D · No ads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77213" y="8096250"/>
            <a:ext cx="37052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Profitable from Y5, slower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78000" y="666750"/>
            <a:ext cx="35051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¿POSSIBLE </a:t>
            </a: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Olive harvest with nets in Maria's grove"/>
          <p:cNvSpPr/>
          <p:nvPr/>
        </p:nvSpPr>
        <p:spPr>
          <a:xfrm flipH="false" flipV="false" rot="0">
            <a:off x="10572750" y="0"/>
            <a:ext cx="7715250" cy="10287000"/>
          </a:xfrm>
          <a:custGeom>
            <a:avLst/>
            <a:gdLst/>
            <a:ahLst/>
            <a:cxnLst/>
            <a:rect r="r" b="b" t="t" l="l"/>
            <a:pathLst>
              <a:path h="10287000" w="7715250">
                <a:moveTo>
                  <a:pt x="0" y="0"/>
                </a:moveTo>
                <a:lnTo>
                  <a:pt x="7715250" y="0"/>
                </a:lnTo>
                <a:lnTo>
                  <a:pt x="7715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52500" y="1800225"/>
            <a:ext cx="8572500" cy="213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840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 October,</a:t>
            </a:r>
          </a:p>
          <a:p>
            <a:pPr algn="l">
              <a:lnSpc>
                <a:spcPts val="8232"/>
              </a:lnSpc>
            </a:pPr>
            <a:r>
              <a:rPr lang="en-US" sz="8400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5:47 a.m.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6238875"/>
            <a:ext cx="7239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FFFA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Nikos: “I’m coming back, Maria.”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8029575"/>
            <a:ext cx="1047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900" strike="noStrike" u="none">
                <a:solidFill>
                  <a:srgbClr val="FFFAF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No harvest lost for lack of hands.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8896350"/>
            <a:ext cx="9525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AF0"/>
                </a:solidFill>
                <a:latin typeface="Arimo Bold"/>
                <a:ea typeface="Arimo Bold"/>
                <a:cs typeface="Arimo Bold"/>
                <a:sym typeface="Arimo Bold"/>
              </a:rPr>
              <a:t>Our ask: €20k + 1 pilot co-op → live for the Oct 2027 harvest</a:t>
            </a:r>
          </a:p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FFFAF0"/>
                </a:solidFill>
                <a:latin typeface="Arimo Bold"/>
                <a:ea typeface="Arimo Bold"/>
                <a:cs typeface="Arimo Bold"/>
                <a:sym typeface="Arimo Bold"/>
              </a:rPr>
              <a:t>KULURI · a Social Cooperative Enterprise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76250"/>
            <a:ext cx="13335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781300"/>
            <a:ext cx="3810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Linda Angulo López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4133850"/>
            <a:ext cx="3810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[Role in Kuluri]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705350"/>
            <a:ext cx="3810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[Share a personal brief description]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0" y="2781300"/>
            <a:ext cx="3810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Maria Filippou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0" y="4133850"/>
            <a:ext cx="3810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[Role in Kuluri]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43500" y="4705350"/>
            <a:ext cx="3810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[Share a personal brief description]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0" y="2781300"/>
            <a:ext cx="38100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Ayushman Bhaba Padhy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4133850"/>
            <a:ext cx="3810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[Role in Kuluri]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4705350"/>
            <a:ext cx="3810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[Share a personal brief description]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5500" y="2781300"/>
            <a:ext cx="3810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Juan Zotes Orcajo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4133850"/>
            <a:ext cx="3810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[Role in Kuluri]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25500" y="4705350"/>
            <a:ext cx="3810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[Share a personal brief description]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7143750"/>
            <a:ext cx="163830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[One sentence: why this team can deliver the next harvest]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8496300"/>
            <a:ext cx="16383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[Contact: email · website · QR]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76250"/>
            <a:ext cx="13335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 12 months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305050"/>
            <a:ext cx="5334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Nov 2026 – Feb 2027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0" y="2305050"/>
            <a:ext cx="10668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Test with Maria and a few workers in this harvest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3733800"/>
            <a:ext cx="5334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Mar – Jun 2027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0" y="3733800"/>
            <a:ext cx="10668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Apply for the grant, sign the pilot co-op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5162550"/>
            <a:ext cx="5334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Jul – Sep 2027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0" y="5162550"/>
            <a:ext cx="10668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Train the co-op, bring its members on 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6591300"/>
            <a:ext cx="5334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Oct 2027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0" y="6591300"/>
            <a:ext cx="10668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First full harvest with Kuluri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8315325"/>
            <a:ext cx="16383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 October, 5:47 a.m.: Nikos is back.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76250"/>
            <a:ext cx="13335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Hold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505075"/>
            <a:ext cx="3810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048125"/>
            <a:ext cx="3810000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Maria and Nikos accept the terms in the 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0" y="2505075"/>
            <a:ext cx="3810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0" y="4048125"/>
            <a:ext cx="381000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Kuluri stores a fingerprint of the agreement, not personal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4500" y="2505075"/>
            <a:ext cx="3810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0" y="4048125"/>
            <a:ext cx="3810000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Both see the same version. Any change shows.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5500" y="2505075"/>
            <a:ext cx="3810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>
                <a:solidFill>
                  <a:srgbClr val="C65D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25500" y="4048125"/>
            <a:ext cx="3810000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Export it for ERGANI or a CAP check when needed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8124825"/>
            <a:ext cx="163830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crypto · no personal data on the chain · ≈ €0 per agreement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66750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Challenge 3: data control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12490" y="1894007"/>
            <a:ext cx="4699686" cy="38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631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65918" y="1894007"/>
            <a:ext cx="4699686" cy="38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631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KULURI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48527" y="2541063"/>
            <a:ext cx="15790945" cy="1372851"/>
            <a:chOff x="0" y="0"/>
            <a:chExt cx="21054594" cy="183046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054594" cy="1830468"/>
              <a:chOff x="0" y="0"/>
              <a:chExt cx="16799115" cy="1460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799114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6799114">
                    <a:moveTo>
                      <a:pt x="0" y="0"/>
                    </a:moveTo>
                    <a:lnTo>
                      <a:pt x="16799114" y="0"/>
                    </a:lnTo>
                    <a:lnTo>
                      <a:pt x="16799114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6799115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751950" y="397928"/>
              <a:ext cx="8146123" cy="525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8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Fragmented calls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156521" y="407453"/>
              <a:ext cx="8146123" cy="522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shared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8527" y="4391427"/>
            <a:ext cx="15790945" cy="1372851"/>
            <a:chOff x="0" y="0"/>
            <a:chExt cx="21054594" cy="183046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054594" cy="1830468"/>
              <a:chOff x="0" y="0"/>
              <a:chExt cx="16799115" cy="1460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799114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6799114">
                    <a:moveTo>
                      <a:pt x="0" y="0"/>
                    </a:moveTo>
                    <a:lnTo>
                      <a:pt x="16799114" y="0"/>
                    </a:lnTo>
                    <a:lnTo>
                      <a:pt x="16799114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6799115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51950" y="397928"/>
              <a:ext cx="8146123" cy="525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8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Opaque decisions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156521" y="407453"/>
              <a:ext cx="8146123" cy="522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Consent by design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8527" y="6241791"/>
            <a:ext cx="15790945" cy="1372851"/>
            <a:chOff x="0" y="0"/>
            <a:chExt cx="21054594" cy="183046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1054594" cy="1830468"/>
              <a:chOff x="0" y="0"/>
              <a:chExt cx="16799115" cy="1460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799114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6799114">
                    <a:moveTo>
                      <a:pt x="0" y="0"/>
                    </a:moveTo>
                    <a:lnTo>
                      <a:pt x="16799114" y="0"/>
                    </a:lnTo>
                    <a:lnTo>
                      <a:pt x="16799114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6799115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51950" y="397928"/>
              <a:ext cx="8146123" cy="525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8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Locked platforms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2156521" y="407453"/>
              <a:ext cx="8146123" cy="522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Portable records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8527" y="8092155"/>
            <a:ext cx="15790945" cy="1372851"/>
            <a:chOff x="0" y="0"/>
            <a:chExt cx="21054594" cy="183046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054594" cy="1830468"/>
              <a:chOff x="0" y="0"/>
              <a:chExt cx="16799115" cy="1460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799114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16799114">
                    <a:moveTo>
                      <a:pt x="0" y="0"/>
                    </a:moveTo>
                    <a:lnTo>
                      <a:pt x="16799114" y="0"/>
                    </a:lnTo>
                    <a:lnTo>
                      <a:pt x="16799114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6799115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51950" y="397928"/>
              <a:ext cx="8146123" cy="525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8"/>
                </a:lnSpc>
              </a:pPr>
              <a:r>
                <a:rPr lang="en-US" sz="2631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feedback loop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2156521" y="407453"/>
              <a:ext cx="8146123" cy="5221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6"/>
                </a:lnSpc>
              </a:pPr>
              <a:r>
                <a:rPr lang="en-US" sz="2631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Live local insight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66750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55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Competition: find · agree · hold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0" y="2247900"/>
            <a:ext cx="3238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0" y="2247900"/>
            <a:ext cx="3238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AGREE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2762250"/>
            <a:ext cx="16002000" cy="904875"/>
            <a:chOff x="0" y="0"/>
            <a:chExt cx="21336000" cy="1206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Job boards, Facebook groups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366000" y="381000"/>
              <a:ext cx="4318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✓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5762625"/>
            <a:ext cx="16002000" cy="904875"/>
            <a:chOff x="0" y="0"/>
            <a:chExt cx="21336000" cy="1206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ERGANI app (Greek state)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366000" y="390525"/>
              <a:ext cx="4318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✗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3762375"/>
            <a:ext cx="16002000" cy="904875"/>
            <a:chOff x="0" y="0"/>
            <a:chExt cx="21336000" cy="12065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WhatsApp, phone calls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366000" y="381000"/>
              <a:ext cx="4318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✓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" y="6762750"/>
            <a:ext cx="16002000" cy="904875"/>
            <a:chOff x="0" y="0"/>
            <a:chExt cx="21336000" cy="1206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Farm-work voucher (ergósimo)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366000" y="390525"/>
              <a:ext cx="4318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✗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3000" y="4762500"/>
            <a:ext cx="16002000" cy="904875"/>
            <a:chOff x="0" y="0"/>
            <a:chExt cx="21336000" cy="1206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Agro-U (Greece)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366000" y="381000"/>
              <a:ext cx="4318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3000" y="7762875"/>
            <a:ext cx="16002000" cy="904875"/>
            <a:chOff x="0" y="0"/>
            <a:chExt cx="21336000" cy="1206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336000" cy="1206500"/>
              <a:chOff x="0" y="0"/>
              <a:chExt cx="21336000" cy="1206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336000" cy="1206500"/>
              </a:xfrm>
              <a:custGeom>
                <a:avLst/>
                <a:gdLst/>
                <a:ahLst/>
                <a:cxnLst/>
                <a:rect r="r" b="b" t="t" l="l"/>
                <a:pathLst>
                  <a:path h="12065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206500"/>
                    </a:lnTo>
                    <a:lnTo>
                      <a:pt x="0" y="1206500"/>
                    </a:lnTo>
                    <a:close/>
                  </a:path>
                </a:pathLst>
              </a:custGeom>
              <a:solidFill>
                <a:srgbClr val="EAD8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1336000" cy="124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81000" y="390525"/>
              <a:ext cx="6731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KULURI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7366000" y="381000"/>
              <a:ext cx="4318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857500" y="8839200"/>
            <a:ext cx="125730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9"/>
              </a:lnSpc>
              <a:spcBef>
                <a:spcPct val="0"/>
              </a:spcBef>
            </a:pPr>
            <a:r>
              <a:rPr lang="en-US" sz="3150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Others do one or two. Kuluri does all three.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525500" y="2200275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HOLD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96500" y="3009900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✗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25500" y="3009900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✗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096500" y="4010025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Verbal only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25500" y="4010025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✗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96500" y="5010150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✓ hiring papers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525500" y="5010150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Official filing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96500" y="6010275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✓ jobs ≤ 2 days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25500" y="6010275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✓ state record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96500" y="7010400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✗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525500" y="7010400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Paper voucher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96500" y="8010525"/>
            <a:ext cx="3238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whole season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525500" y="8010525"/>
            <a:ext cx="3429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shared, can't change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66800" y="9591675"/>
            <a:ext cx="1619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6E756D"/>
                </a:solidFill>
                <a:latin typeface="Arimo Italics"/>
                <a:ea typeface="Arimo Italics"/>
                <a:cs typeface="Arimo Italics"/>
                <a:sym typeface="Arimo Italics"/>
              </a:rPr>
              <a:t>ERGANI app: July 2026, contracts up to 2 days · Agro-U: matching + hiring paperwork (Thessaloniki, 2020)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13335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we estimated the numbers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17621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· Market size (TAM → SOM)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21621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95k olive families → 28.5k hire → 9k users by Y5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300037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· Adoption curve (Rogers)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340042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Innovators + early adopters = 16% by Y3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42386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· Freemium conversion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46386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3% pay for Prime (benchmark 2–5%)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47687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· Comparable prices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587692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Farm software €450–950 / year → co-op €1,200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67151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· Value for co-ops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71151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Pays back if harvest grows 0.4% (96 t × €4.60/kg)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0" y="17621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 · Bottom-up costs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0" y="21621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Part-time developer ≈ half a Greek salary (€40k)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0" y="300037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 · Grant probability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0" y="340042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€20k / year, 70–80% chance (ESF+, EIT Food)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0" y="42386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 · First Chicago method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0" y="46386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Bear 30% · Base 50% · Bull 20% → C: +€21k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0" y="547687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 · Monte Carlo (10,000 runs)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5000" y="587692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C profitable in year 5 in 94% of runs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0" y="6715125"/>
            <a:ext cx="8001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 · NPV at 40% (VC hurdle rate)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0" y="7115175"/>
            <a:ext cx="8001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C: +€13.5k · A and D negative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" y="8515350"/>
            <a:ext cx="16383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C: +€50k in base case · 47% chance all early losses are recovered by year 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66750"/>
            <a:ext cx="12382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Costs and risks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554" y="1968739"/>
            <a:ext cx="5102679" cy="37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538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 1 COST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6054" y="1968739"/>
            <a:ext cx="6123214" cy="37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538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ANSWER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71500" y="2765268"/>
            <a:ext cx="7347857" cy="1151505"/>
            <a:chOff x="0" y="0"/>
            <a:chExt cx="9797143" cy="153534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797143" cy="1535340"/>
              <a:chOff x="0" y="0"/>
              <a:chExt cx="8103983" cy="127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03983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103983">
                    <a:moveTo>
                      <a:pt x="0" y="0"/>
                    </a:moveTo>
                    <a:lnTo>
                      <a:pt x="8103983" y="0"/>
                    </a:lnTo>
                    <a:lnTo>
                      <a:pt x="8103983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103983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08214" y="307068"/>
              <a:ext cx="5170714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Company + accountant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531429" y="316593"/>
              <a:ext cx="2993571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€2,500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1946" y="2765268"/>
            <a:ext cx="8674554" cy="1151505"/>
            <a:chOff x="0" y="0"/>
            <a:chExt cx="11566071" cy="15353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566071" cy="1535340"/>
              <a:chOff x="0" y="0"/>
              <a:chExt cx="9567202" cy="127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67202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67202">
                    <a:moveTo>
                      <a:pt x="0" y="0"/>
                    </a:moveTo>
                    <a:lnTo>
                      <a:pt x="9567202" y="0"/>
                    </a:lnTo>
                    <a:lnTo>
                      <a:pt x="9567202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567202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8214" y="316593"/>
              <a:ext cx="4082143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Low adoption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98571" y="307068"/>
              <a:ext cx="6531429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Co-design in villages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4377375"/>
            <a:ext cx="7347857" cy="1151505"/>
            <a:chOff x="0" y="0"/>
            <a:chExt cx="9797143" cy="153534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797143" cy="1535340"/>
              <a:chOff x="0" y="0"/>
              <a:chExt cx="8103983" cy="127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03983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103983">
                    <a:moveTo>
                      <a:pt x="0" y="0"/>
                    </a:moveTo>
                    <a:lnTo>
                      <a:pt x="8103983" y="0"/>
                    </a:lnTo>
                    <a:lnTo>
                      <a:pt x="8103983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103983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8214" y="307068"/>
              <a:ext cx="5170714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Legal + GDPR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531429" y="316593"/>
              <a:ext cx="2993571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€1,500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41946" y="4377375"/>
            <a:ext cx="8674554" cy="1151505"/>
            <a:chOff x="0" y="0"/>
            <a:chExt cx="11566071" cy="153534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1566071" cy="1535340"/>
              <a:chOff x="0" y="0"/>
              <a:chExt cx="9567202" cy="127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567202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67202">
                    <a:moveTo>
                      <a:pt x="0" y="0"/>
                    </a:moveTo>
                    <a:lnTo>
                      <a:pt x="9567202" y="0"/>
                    </a:lnTo>
                    <a:lnTo>
                      <a:pt x="9567202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9567202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08214" y="316593"/>
              <a:ext cx="4082143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misuse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898571" y="307068"/>
              <a:ext cx="6531429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Consent + minimisation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1500" y="5989482"/>
            <a:ext cx="7347857" cy="1151505"/>
            <a:chOff x="0" y="0"/>
            <a:chExt cx="9797143" cy="153534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797143" cy="1535340"/>
              <a:chOff x="0" y="0"/>
              <a:chExt cx="8103983" cy="127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03983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103983">
                    <a:moveTo>
                      <a:pt x="0" y="0"/>
                    </a:moveTo>
                    <a:lnTo>
                      <a:pt x="8103983" y="0"/>
                    </a:lnTo>
                    <a:lnTo>
                      <a:pt x="8103983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103983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08214" y="307068"/>
              <a:ext cx="5170714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Tech, marketing, tools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531429" y="316593"/>
              <a:ext cx="2993571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€2,500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41946" y="5989482"/>
            <a:ext cx="8674554" cy="1151505"/>
            <a:chOff x="0" y="0"/>
            <a:chExt cx="11566071" cy="153534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1566071" cy="1535340"/>
              <a:chOff x="0" y="0"/>
              <a:chExt cx="9567202" cy="127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567202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67202">
                    <a:moveTo>
                      <a:pt x="0" y="0"/>
                    </a:moveTo>
                    <a:lnTo>
                      <a:pt x="9567202" y="0"/>
                    </a:lnTo>
                    <a:lnTo>
                      <a:pt x="9567202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4DC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567202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08214" y="316593"/>
              <a:ext cx="4082143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Seasonality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898571" y="307068"/>
              <a:ext cx="6531429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Co-op subscriptions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1500" y="7601590"/>
            <a:ext cx="7347857" cy="1151505"/>
            <a:chOff x="0" y="0"/>
            <a:chExt cx="9797143" cy="153534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9797143" cy="1535340"/>
              <a:chOff x="0" y="0"/>
              <a:chExt cx="8103983" cy="1270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03983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8103983">
                    <a:moveTo>
                      <a:pt x="0" y="0"/>
                    </a:moveTo>
                    <a:lnTo>
                      <a:pt x="8103983" y="0"/>
                    </a:lnTo>
                    <a:lnTo>
                      <a:pt x="8103983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8103983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08214" y="307068"/>
              <a:ext cx="5170714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Total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531429" y="316593"/>
              <a:ext cx="2993571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C65D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€6,500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41946" y="7601590"/>
            <a:ext cx="8674554" cy="1151505"/>
            <a:chOff x="0" y="0"/>
            <a:chExt cx="11566071" cy="153534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1566071" cy="1535340"/>
              <a:chOff x="0" y="0"/>
              <a:chExt cx="9567202" cy="12700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567202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9567202">
                    <a:moveTo>
                      <a:pt x="0" y="0"/>
                    </a:moveTo>
                    <a:lnTo>
                      <a:pt x="9567202" y="0"/>
                    </a:lnTo>
                    <a:lnTo>
                      <a:pt x="9567202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EEE5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567202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408214" y="316593"/>
              <a:ext cx="4082143" cy="5032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9"/>
                </a:lnSpc>
              </a:pPr>
              <a:r>
                <a:rPr lang="en-US" sz="2538" b="true">
                  <a:solidFill>
                    <a:srgbClr val="173C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Trust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898571" y="307068"/>
              <a:ext cx="6531429" cy="506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6"/>
                </a:lnSpc>
              </a:pPr>
              <a:r>
                <a:rPr lang="en-US" sz="2538">
                  <a:solidFill>
                    <a:srgbClr val="173C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Human support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66750"/>
            <a:ext cx="142875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Everyone in the chain will win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3476625" y="3190875"/>
            <a:ext cx="5667375" cy="1571625"/>
          </a:xfrm>
          <a:prstGeom prst="line">
            <a:avLst/>
          </a:prstGeom>
          <a:ln cap="flat" w="38100">
            <a:solidFill>
              <a:srgbClr val="7891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714500" y="2476500"/>
            <a:ext cx="3524250" cy="1428750"/>
            <a:chOff x="0" y="0"/>
            <a:chExt cx="4699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82378" y="0"/>
                  </a:moveTo>
                  <a:lnTo>
                    <a:pt x="4616622" y="0"/>
                  </a:lnTo>
                  <a:cubicBezTo>
                    <a:pt x="4662118" y="0"/>
                    <a:pt x="4699000" y="36882"/>
                    <a:pt x="4699000" y="82378"/>
                  </a:cubicBezTo>
                  <a:lnTo>
                    <a:pt x="4699000" y="1822622"/>
                  </a:lnTo>
                  <a:cubicBezTo>
                    <a:pt x="4699000" y="1868118"/>
                    <a:pt x="4662118" y="1905000"/>
                    <a:pt x="4616622" y="1905000"/>
                  </a:cubicBezTo>
                  <a:lnTo>
                    <a:pt x="82378" y="1905000"/>
                  </a:lnTo>
                  <a:cubicBezTo>
                    <a:pt x="36882" y="1905000"/>
                    <a:pt x="0" y="1868118"/>
                    <a:pt x="0" y="18226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73C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69900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  <a:r>
                <a:rPr lang="en-US" sz="2175" b="true">
                  <a:solidFill>
                    <a:srgbClr val="FFFA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FARM OWNERS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hands harvests on time, owns data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3476625" y="4762500"/>
            <a:ext cx="5667375" cy="2809875"/>
          </a:xfrm>
          <a:prstGeom prst="line">
            <a:avLst/>
          </a:prstGeom>
          <a:ln cap="flat" w="38100">
            <a:solidFill>
              <a:srgbClr val="7891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14500" y="6858000"/>
            <a:ext cx="3524250" cy="1538678"/>
            <a:chOff x="0" y="0"/>
            <a:chExt cx="4699000" cy="20515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9000" cy="2051571"/>
            </a:xfrm>
            <a:custGeom>
              <a:avLst/>
              <a:gdLst/>
              <a:ahLst/>
              <a:cxnLst/>
              <a:rect r="r" b="b" t="t" l="l"/>
              <a:pathLst>
                <a:path h="2051571" w="4699000">
                  <a:moveTo>
                    <a:pt x="82378" y="0"/>
                  </a:moveTo>
                  <a:lnTo>
                    <a:pt x="4616622" y="0"/>
                  </a:lnTo>
                  <a:cubicBezTo>
                    <a:pt x="4662118" y="0"/>
                    <a:pt x="4699000" y="36882"/>
                    <a:pt x="4699000" y="82378"/>
                  </a:cubicBezTo>
                  <a:lnTo>
                    <a:pt x="4699000" y="1969192"/>
                  </a:lnTo>
                  <a:cubicBezTo>
                    <a:pt x="4699000" y="1991040"/>
                    <a:pt x="4690321" y="2011994"/>
                    <a:pt x="4674872" y="2027443"/>
                  </a:cubicBezTo>
                  <a:cubicBezTo>
                    <a:pt x="4659423" y="2042892"/>
                    <a:pt x="4638470" y="2051571"/>
                    <a:pt x="4616622" y="2051571"/>
                  </a:cubicBezTo>
                  <a:lnTo>
                    <a:pt x="82378" y="2051571"/>
                  </a:lnTo>
                  <a:cubicBezTo>
                    <a:pt x="36882" y="2051571"/>
                    <a:pt x="0" y="2014689"/>
                    <a:pt x="0" y="196919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73C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699000" cy="206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  <a:r>
                <a:rPr lang="en-US" sz="2175" b="true">
                  <a:solidFill>
                    <a:srgbClr val="FFFA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WORKERS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fair terms + proof,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ability to grow professionally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9144000" y="3190875"/>
            <a:ext cx="5667375" cy="1571625"/>
          </a:xfrm>
          <a:prstGeom prst="line">
            <a:avLst/>
          </a:prstGeom>
          <a:ln cap="flat" w="38100">
            <a:solidFill>
              <a:srgbClr val="7891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049250" y="2476500"/>
            <a:ext cx="3524250" cy="1428750"/>
            <a:chOff x="0" y="0"/>
            <a:chExt cx="4699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82378" y="0"/>
                  </a:moveTo>
                  <a:lnTo>
                    <a:pt x="4616622" y="0"/>
                  </a:lnTo>
                  <a:cubicBezTo>
                    <a:pt x="4662118" y="0"/>
                    <a:pt x="4699000" y="36882"/>
                    <a:pt x="4699000" y="82378"/>
                  </a:cubicBezTo>
                  <a:lnTo>
                    <a:pt x="4699000" y="1822622"/>
                  </a:lnTo>
                  <a:cubicBezTo>
                    <a:pt x="4699000" y="1868118"/>
                    <a:pt x="4662118" y="1905000"/>
                    <a:pt x="4616622" y="1905000"/>
                  </a:cubicBezTo>
                  <a:lnTo>
                    <a:pt x="82378" y="1905000"/>
                  </a:lnTo>
                  <a:cubicBezTo>
                    <a:pt x="36882" y="1905000"/>
                    <a:pt x="0" y="1868118"/>
                    <a:pt x="0" y="18226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73C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69900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  <a:r>
                <a:rPr lang="en-US" sz="2175" b="true">
                  <a:solidFill>
                    <a:srgbClr val="FFFA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CO-OPS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season-long jobs, increase in crop selling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144000" y="4762500"/>
            <a:ext cx="5667375" cy="2809875"/>
          </a:xfrm>
          <a:prstGeom prst="line">
            <a:avLst/>
          </a:prstGeom>
          <a:ln cap="flat" w="38100">
            <a:solidFill>
              <a:srgbClr val="7891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049250" y="6858000"/>
            <a:ext cx="3524250" cy="1428750"/>
            <a:chOff x="0" y="0"/>
            <a:chExt cx="4699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99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699000">
                  <a:moveTo>
                    <a:pt x="82378" y="0"/>
                  </a:moveTo>
                  <a:lnTo>
                    <a:pt x="4616622" y="0"/>
                  </a:lnTo>
                  <a:cubicBezTo>
                    <a:pt x="4662118" y="0"/>
                    <a:pt x="4699000" y="36882"/>
                    <a:pt x="4699000" y="82378"/>
                  </a:cubicBezTo>
                  <a:lnTo>
                    <a:pt x="4699000" y="1822622"/>
                  </a:lnTo>
                  <a:cubicBezTo>
                    <a:pt x="4699000" y="1868118"/>
                    <a:pt x="4662118" y="1905000"/>
                    <a:pt x="4616622" y="1905000"/>
                  </a:cubicBezTo>
                  <a:lnTo>
                    <a:pt x="82378" y="1905000"/>
                  </a:lnTo>
                  <a:cubicBezTo>
                    <a:pt x="36882" y="1905000"/>
                    <a:pt x="0" y="1868118"/>
                    <a:pt x="0" y="18226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73C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699000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  <a:r>
                <a:rPr lang="en-US" sz="2175" b="true">
                  <a:solidFill>
                    <a:srgbClr val="FFFA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BUYERS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verified fair labour conditions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9001125" y="4762500"/>
            <a:ext cx="142875" cy="3476625"/>
          </a:xfrm>
          <a:prstGeom prst="line">
            <a:avLst/>
          </a:prstGeom>
          <a:ln cap="flat" w="38100">
            <a:solidFill>
              <a:srgbClr val="7891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6986503" y="7572375"/>
            <a:ext cx="4029244" cy="1428750"/>
            <a:chOff x="0" y="0"/>
            <a:chExt cx="5372325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72326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72326">
                  <a:moveTo>
                    <a:pt x="72054" y="0"/>
                  </a:moveTo>
                  <a:lnTo>
                    <a:pt x="5300272" y="0"/>
                  </a:lnTo>
                  <a:cubicBezTo>
                    <a:pt x="5319382" y="0"/>
                    <a:pt x="5337709" y="7591"/>
                    <a:pt x="5351221" y="21104"/>
                  </a:cubicBezTo>
                  <a:cubicBezTo>
                    <a:pt x="5364734" y="34617"/>
                    <a:pt x="5372326" y="52944"/>
                    <a:pt x="5372326" y="72054"/>
                  </a:cubicBezTo>
                  <a:lnTo>
                    <a:pt x="5372326" y="1832946"/>
                  </a:lnTo>
                  <a:cubicBezTo>
                    <a:pt x="5372326" y="1852056"/>
                    <a:pt x="5364734" y="1870383"/>
                    <a:pt x="5351221" y="1883896"/>
                  </a:cubicBezTo>
                  <a:cubicBezTo>
                    <a:pt x="5337709" y="1897409"/>
                    <a:pt x="5319382" y="1905000"/>
                    <a:pt x="5300272" y="1905000"/>
                  </a:cubicBezTo>
                  <a:lnTo>
                    <a:pt x="72054" y="1905000"/>
                  </a:lnTo>
                  <a:cubicBezTo>
                    <a:pt x="52944" y="1905000"/>
                    <a:pt x="34617" y="1897409"/>
                    <a:pt x="21104" y="1883896"/>
                  </a:cubicBezTo>
                  <a:cubicBezTo>
                    <a:pt x="7591" y="1870383"/>
                    <a:pt x="0" y="1852056"/>
                    <a:pt x="0" y="1832946"/>
                  </a:cubicBezTo>
                  <a:lnTo>
                    <a:pt x="0" y="72054"/>
                  </a:lnTo>
                  <a:cubicBezTo>
                    <a:pt x="0" y="52944"/>
                    <a:pt x="7591" y="34617"/>
                    <a:pt x="21104" y="21104"/>
                  </a:cubicBezTo>
                  <a:cubicBezTo>
                    <a:pt x="34617" y="7591"/>
                    <a:pt x="52944" y="0"/>
                    <a:pt x="72054" y="0"/>
                  </a:cubicBezTo>
                  <a:close/>
                </a:path>
              </a:pathLst>
            </a:custGeom>
            <a:solidFill>
              <a:srgbClr val="173C2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372325" cy="191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  <a:r>
                <a:rPr lang="en-US" sz="2175" b="true">
                  <a:solidFill>
                    <a:srgbClr val="FFFA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PUBLIC ADMINISTRATION 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>
                  <a:solidFill>
                    <a:srgbClr val="FFFAF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simpler &amp; trustable reporting tracking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39000" y="3714750"/>
            <a:ext cx="3810000" cy="2095500"/>
            <a:chOff x="0" y="0"/>
            <a:chExt cx="5080000" cy="279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080000">
                  <a:moveTo>
                    <a:pt x="95250" y="0"/>
                  </a:moveTo>
                  <a:lnTo>
                    <a:pt x="4984750" y="0"/>
                  </a:lnTo>
                  <a:cubicBezTo>
                    <a:pt x="5037355" y="0"/>
                    <a:pt x="5080000" y="42645"/>
                    <a:pt x="5080000" y="95250"/>
                  </a:cubicBezTo>
                  <a:lnTo>
                    <a:pt x="5080000" y="2698750"/>
                  </a:lnTo>
                  <a:cubicBezTo>
                    <a:pt x="5080000" y="2751355"/>
                    <a:pt x="5037355" y="2794000"/>
                    <a:pt x="4984750" y="2794000"/>
                  </a:cubicBezTo>
                  <a:lnTo>
                    <a:pt x="95250" y="2794000"/>
                  </a:lnTo>
                  <a:cubicBezTo>
                    <a:pt x="42645" y="2794000"/>
                    <a:pt x="0" y="2751355"/>
                    <a:pt x="0" y="2698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C65D3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5080000" cy="287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90"/>
                </a:lnSpc>
              </a:pPr>
              <a:r>
                <a:rPr lang="en-US" sz="4350">
                  <a:solidFill>
                    <a:srgbClr val="FFFAF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KULURI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28625"/>
            <a:ext cx="13335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Who advertises on Kuluri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0" y="66675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714500"/>
            <a:ext cx="8001000" cy="1190625"/>
            <a:chOff x="0" y="0"/>
            <a:chExt cx="10668000" cy="158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4500" y="1714500"/>
            <a:ext cx="8001000" cy="1190625"/>
            <a:chOff x="0" y="0"/>
            <a:chExt cx="10668000" cy="1587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3048000"/>
            <a:ext cx="8001000" cy="1190625"/>
            <a:chOff x="0" y="0"/>
            <a:chExt cx="10668000" cy="158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EE5D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3048000"/>
            <a:ext cx="8001000" cy="1190625"/>
            <a:chOff x="0" y="0"/>
            <a:chExt cx="10668000" cy="158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EE5D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4381500"/>
            <a:ext cx="8001000" cy="1190625"/>
            <a:chOff x="0" y="0"/>
            <a:chExt cx="10668000" cy="1587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34500" y="4381500"/>
            <a:ext cx="8001000" cy="1190625"/>
            <a:chOff x="0" y="0"/>
            <a:chExt cx="10668000" cy="1587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" y="5715000"/>
            <a:ext cx="8001000" cy="1190625"/>
            <a:chOff x="0" y="0"/>
            <a:chExt cx="10668000" cy="1587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EE5D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34500" y="5715000"/>
            <a:ext cx="8001000" cy="1190625"/>
            <a:chOff x="0" y="0"/>
            <a:chExt cx="10668000" cy="1587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EE5D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2500" y="7048500"/>
            <a:ext cx="8001000" cy="1190625"/>
            <a:chOff x="0" y="0"/>
            <a:chExt cx="10668000" cy="158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34500" y="7048500"/>
            <a:ext cx="8001000" cy="1190625"/>
            <a:chOff x="0" y="0"/>
            <a:chExt cx="10668000" cy="1587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68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587500"/>
                  </a:lnTo>
                  <a:lnTo>
                    <a:pt x="0" y="1587500"/>
                  </a:lnTo>
                  <a:close/>
                </a:path>
              </a:pathLst>
            </a:custGeom>
            <a:solidFill>
              <a:srgbClr val="E4DCC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668000" cy="16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2500" y="8429625"/>
            <a:ext cx="16383000" cy="1571625"/>
            <a:chOff x="0" y="0"/>
            <a:chExt cx="21844000" cy="2095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4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C65D3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844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38250" y="1943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Olive mills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53000" y="2000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Win farmers early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20250" y="1943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Rooms to rent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35000" y="2000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Empty in winter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8250" y="32766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Farm stores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53000" y="33337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Pre-harvest sales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20250" y="32766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Transport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35000" y="33337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Reach far groves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8250" y="4610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Machine repair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53000" y="4667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Urgent fixes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20250" y="4610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Workwear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335000" y="4667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Gloves &amp; boots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8250" y="59436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Accountants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953000" y="60007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Register workers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20250" y="59436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Tavernas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335000" y="60007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Feed harvest crews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8250" y="7277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Oil buyers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53000" y="7334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Buy after milling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20250" y="7277100"/>
            <a:ext cx="3619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73C2B"/>
                </a:solidFill>
                <a:latin typeface="Arimo Bold"/>
                <a:ea typeface="Arimo Bold"/>
                <a:cs typeface="Arimo Bold"/>
                <a:sym typeface="Arimo Bold"/>
              </a:rPr>
              <a:t>Money transfer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335000" y="7334250"/>
            <a:ext cx="39052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173C2B"/>
                </a:solidFill>
                <a:latin typeface="Arimo"/>
                <a:ea typeface="Arimo"/>
                <a:cs typeface="Arimo"/>
                <a:sym typeface="Arimo"/>
              </a:rPr>
              <a:t>Send pay home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33500" y="8610600"/>
            <a:ext cx="156210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FFAF0"/>
                </a:solidFill>
                <a:latin typeface="Arimo Bold"/>
                <a:ea typeface="Arimo Bold"/>
                <a:cs typeface="Arimo Bold"/>
                <a:sym typeface="Arimo Bold"/>
              </a:rPr>
              <a:t>~€360 / season  ·  6 → 60 → 120 advertisers (Y1 → Y3 → Y5)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FFAF0"/>
                </a:solidFill>
                <a:latin typeface="Arimo Bold"/>
                <a:ea typeface="Arimo Bold"/>
                <a:cs typeface="Arimo Bold"/>
                <a:sym typeface="Arimo Bold"/>
              </a:rPr>
              <a:t>No loans, no gambling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0975"/>
            <a:ext cx="138112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0"/>
              </a:lnSpc>
              <a:spcBef>
                <a:spcPct val="0"/>
              </a:spcBef>
            </a:pPr>
            <a:r>
              <a:rPr lang="en-US" sz="5250" strike="noStrike" u="none">
                <a:solidFill>
                  <a:srgbClr val="173C2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If we win: bigger market, bigger profit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0" y="419100"/>
            <a:ext cx="2857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Arimo Bold"/>
                <a:ea typeface="Arimo Bold"/>
                <a:cs typeface="Arimo Bold"/>
                <a:sym typeface="Arimo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45400" y="1145269"/>
            <a:ext cx="10125075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Profit after costs · cumulative, 5 years (€k)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77975" y="2543175"/>
            <a:ext cx="390525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40"/>
              </a:lnSpc>
              <a:spcBef>
                <a:spcPct val="0"/>
              </a:spcBef>
            </a:pPr>
            <a:r>
              <a:rPr lang="en-US" sz="6600" strike="noStrike" u="none">
                <a:solidFill>
                  <a:srgbClr val="2F6B4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+€158k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77975" y="3676650"/>
            <a:ext cx="3905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· cumulative, year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77975" y="4295775"/>
            <a:ext cx="390525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C65D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 · Current 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77975" y="4676775"/>
            <a:ext cx="39052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€40k grants · Crete only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Year 5: +€50k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77975" y="5676900"/>
            <a:ext cx="390525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F6B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· €500k EU grant (Y2)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77975" y="6057900"/>
            <a:ext cx="39052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Crete Y1 → Greece from Y3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73C2B"/>
                </a:solidFill>
                <a:latin typeface="Montserrat"/>
                <a:ea typeface="Montserrat"/>
                <a:cs typeface="Montserrat"/>
                <a:sym typeface="Montserrat"/>
              </a:rPr>
              <a:t>Year 5: +€158k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7975" y="7105650"/>
            <a:ext cx="39052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Small dip: −€5k (Y2)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73C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Farmers Y5: 22k vs 9k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9601200"/>
            <a:ext cx="1619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i="true" strike="noStrike" u="none">
                <a:solidFill>
                  <a:srgbClr val="6E756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€500k = ESF+ social-innovation size (€200k–1M) · 20% co-funding: half in-kind, half founding co-ops · Illustrative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676" y="398471"/>
            <a:ext cx="14813740" cy="100943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DAHYSpzw5Sc</dc:identifier>
  <dcterms:modified xsi:type="dcterms:W3CDTF">2011-08-01T06:04:30Z</dcterms:modified>
  <cp:revision>1</cp:revision>
  <dc:title>KULURI Pitch Deck</dc:title>
</cp:coreProperties>
</file>