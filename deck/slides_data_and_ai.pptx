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554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73C2B"/>
                </a:solidFill>
                <a:latin typeface="DM Serif Display"/>
              </a:rPr>
              <a:t>What the data told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554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65D3B"/>
                </a:solidFill>
                <a:latin typeface="Arimo"/>
              </a:rPr>
              <a:t>Demo on your dataset farm in Milano. Our story is the Cretan olive market we are building for.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5029200" cy="672084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4480560" cy="6309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C65D3B"/>
                </a:solidFill>
                <a:latin typeface="Montserrat"/>
              </a:rPr>
              <a:t>WHAT WE USED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3C2B"/>
                </a:solidFill>
                <a:latin typeface="Montserrat"/>
              </a:rPr>
              <a:t>DG AGRI synthetic dataset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173C2B"/>
                </a:solidFill>
                <a:latin typeface="Arimo"/>
              </a:rPr>
              <a:t>Farm FARM-13079 · Milano, NUTS3 ITC4C</a:t>
            </a:r>
            <a:br/>
            <a:r>
              <a:rPr sz="1700" b="0">
                <a:solidFill>
                  <a:srgbClr val="173C2B"/>
                </a:solidFill>
                <a:latin typeface="Arimo"/>
              </a:rPr>
              <a:t>371 ha · 62 parcels · organic · Natura 2000</a:t>
            </a:r>
            <a:br/>
            <a:r>
              <a:rPr sz="1700" b="0">
                <a:solidFill>
                  <a:srgbClr val="173C2B"/>
                </a:solidFill>
                <a:latin typeface="Arimo"/>
              </a:rPr>
              <a:t>Common wheat 137 ha · barley 83 · maize 62</a:t>
            </a:r>
            <a:br/>
            <a:r>
              <a:rPr sz="1700" b="0">
                <a:solidFill>
                  <a:srgbClr val="173C2B"/>
                </a:solidFill>
                <a:latin typeface="Arimo"/>
              </a:rPr>
              <a:t>sunflower 61 · rapeseed 28</a:t>
            </a:r>
            <a:br/>
            <a:r>
              <a:rPr sz="1700" b="0">
                <a:solidFill>
                  <a:srgbClr val="173C2B"/>
                </a:solidFill>
                <a:latin typeface="Arimo"/>
              </a:rPr>
              <a:t>10 years of harvest, inputs, irrigation,</a:t>
            </a:r>
            <a:br/>
            <a:r>
              <a:rPr sz="1700" b="0">
                <a:solidFill>
                  <a:srgbClr val="173C2B"/>
                </a:solidFill>
                <a:latin typeface="Arimo"/>
              </a:rPr>
              <a:t>labour, sales and certificates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3C2B"/>
                </a:solidFill>
                <a:latin typeface="Montserrat"/>
              </a:rPr>
              <a:t>Eurostat GISCO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173C2B"/>
                </a:solidFill>
                <a:latin typeface="Arimo"/>
              </a:rPr>
              <a:t>NUTS 2024 outlines — the 60 km</a:t>
            </a:r>
            <a:br/>
            <a:r>
              <a:rPr sz="1700" b="0">
                <a:solidFill>
                  <a:srgbClr val="173C2B"/>
                </a:solidFill>
                <a:latin typeface="Arimo"/>
              </a:rPr>
              <a:t>season-planner map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73C2B"/>
                </a:solidFill>
                <a:latin typeface="Montserrat"/>
              </a:rPr>
              <a:t>Simulated for the demo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1700" b="0">
                <a:solidFill>
                  <a:srgbClr val="173C2B"/>
                </a:solidFill>
                <a:latin typeface="Arimo"/>
              </a:rPr>
              <a:t>Job posts, worker pool, chats, agreements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5D3B"/>
                </a:solidFill>
                <a:latin typeface="Arimo"/>
              </a:rPr>
              <a:t>The dataset itself is not in our repository</a:t>
            </a:r>
            <a:br/>
            <a:r>
              <a:rPr sz="1600" b="0">
                <a:solidFill>
                  <a:srgbClr val="C65D3B"/>
                </a:solidFill>
                <a:latin typeface="Arimo"/>
              </a:rPr>
              <a:t>(about 12 GB, git-ignored). The extracted</a:t>
            </a:r>
            <a:br/>
            <a:r>
              <a:rPr sz="1600" b="0">
                <a:solidFill>
                  <a:srgbClr val="C65D3B"/>
                </a:solidFill>
                <a:latin typeface="Arimo"/>
              </a:rPr>
              <a:t>farm files are, so the app runs without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514600"/>
            <a:ext cx="10424160" cy="21031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514600"/>
            <a:ext cx="128016" cy="2103120"/>
          </a:xfrm>
          <a:prstGeom prst="rect">
            <a:avLst/>
          </a:prstGeom>
          <a:solidFill>
            <a:srgbClr val="C6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770632"/>
            <a:ext cx="9784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73C2B"/>
                </a:solidFill>
                <a:latin typeface="Montserrat"/>
              </a:rPr>
              <a:t>1 · 9,517 hours. Not one seasonal worker.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173C2B"/>
                </a:solidFill>
                <a:latin typeface="Arimo"/>
              </a:rPr>
              <a:t>All recorded labour is holder, family or paid-regular — on a 371 ha farm that harvests 2,600 t a year.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5D3B"/>
                </a:solidFill>
                <a:latin typeface="Arimo"/>
              </a:rPr>
              <a:t>→  So Kuluri records the work nobody logs: the worker confirms their own week.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4828031"/>
            <a:ext cx="10424160" cy="21031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4828031"/>
            <a:ext cx="128016" cy="2103120"/>
          </a:xfrm>
          <a:prstGeom prst="rect">
            <a:avLst/>
          </a:prstGeom>
          <a:solidFill>
            <a:srgbClr val="C6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5084064"/>
            <a:ext cx="9784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73C2B"/>
                </a:solidFill>
                <a:latin typeface="Montserrat"/>
              </a:rPr>
              <a:t>2 · 20 of 30 sales cannot prove the claim.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173C2B"/>
                </a:solidFill>
                <a:latin typeface="Arimo"/>
              </a:rPr>
              <a:t>The organic certificate is valid 2024-2026 only. Two thirds of sales carry no date-valid holding certificate.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5D3B"/>
                </a:solidFill>
                <a:latin typeface="Arimo"/>
              </a:rPr>
              <a:t>→  So Buyer requests answers from confirmed records — totals only.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7141463"/>
            <a:ext cx="10424160" cy="21031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7141463"/>
            <a:ext cx="128016" cy="2103120"/>
          </a:xfrm>
          <a:prstGeom prst="rect">
            <a:avLst/>
          </a:prstGeom>
          <a:solidFill>
            <a:srgbClr val="C6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7397495"/>
            <a:ext cx="9784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73C2B"/>
                </a:solidFill>
                <a:latin typeface="Montserrat"/>
              </a:rPr>
              <a:t>3 · Proof has to travel to 22 buyers.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0">
                <a:solidFill>
                  <a:srgbClr val="173C2B"/>
                </a:solidFill>
                <a:latin typeface="Arimo"/>
              </a:rPr>
              <a:t>22 distinct buyers over ten years, on forward, cooperative and spot contracts. 15 of 30 sales below reference price.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5D3B"/>
                </a:solidFill>
                <a:latin typeface="Arimo"/>
              </a:rPr>
              <a:t>→  So one record is re-used for every buyer and every CAP social-conditionality check.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9464040"/>
            <a:ext cx="1581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3C2B"/>
                </a:solidFill>
                <a:latin typeface="Arimo"/>
              </a:rPr>
              <a:t>Synthetic dataset only · no real personal data · every figure reproducible with app/scripts/extract_farm.py · simulated demo content is labelled in the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5544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73C2B"/>
                </a:solidFill>
                <a:latin typeface="DM Serif Display"/>
              </a:rPr>
              <a:t>How we used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554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65D3B"/>
                </a:solidFill>
                <a:latin typeface="Arimo"/>
              </a:rPr>
              <a:t>Declared, as the Hack Guide asks. Allowed, optional, transparent.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15819120" cy="274320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1490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C65D3B"/>
                </a:solidFill>
                <a:latin typeface="Montserrat"/>
              </a:rPr>
              <a:t>TO BUILD IT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173C2B"/>
                </a:solidFill>
                <a:latin typeface="Montserrat"/>
              </a:rPr>
              <a:t>Scoping   </a:t>
            </a:r>
            <a:r>
              <a:rPr sz="1800">
                <a:solidFill>
                  <a:srgbClr val="173C2B"/>
                </a:solidFill>
                <a:latin typeface="Arimo"/>
              </a:rPr>
              <a:t>Idea and dataset exploration, feasibility, market model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173C2B"/>
                </a:solidFill>
                <a:latin typeface="Montserrat"/>
              </a:rPr>
              <a:t>App   </a:t>
            </a:r>
            <a:r>
              <a:rPr sz="1800">
                <a:solidFill>
                  <a:srgbClr val="173C2B"/>
                </a:solidFill>
                <a:latin typeface="Arimo"/>
              </a:rPr>
              <a:t>Supervised code generation (Vue 3 / Quasar / Capacitor)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173C2B"/>
                </a:solidFill>
                <a:latin typeface="Montserrat"/>
              </a:rPr>
              <a:t>Docs &amp; diagrams   </a:t>
            </a:r>
            <a:r>
              <a:rPr sz="1800">
                <a:solidFill>
                  <a:srgbClr val="173C2B"/>
                </a:solidFill>
                <a:latin typeface="Arimo"/>
              </a:rPr>
              <a:t>README, terms, citation metadata, architecture diagrams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800" b="1">
                <a:solidFill>
                  <a:srgbClr val="173C2B"/>
                </a:solidFill>
                <a:latin typeface="Montserrat"/>
              </a:rPr>
              <a:t>This deck   </a:t>
            </a:r>
            <a:r>
              <a:rPr sz="1800">
                <a:solidFill>
                  <a:srgbClr val="173C2B"/>
                </a:solidFill>
                <a:latin typeface="Arimo"/>
              </a:rPr>
              <a:t>Structure, wording and slide generation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0">
                <a:solidFill>
                  <a:srgbClr val="C65D3B"/>
                </a:solidFill>
                <a:latin typeface="Arimo"/>
              </a:rPr>
              <a:t>Every output was reviewed before it was merged and is owned by a named team member. The git history shows which commits, line by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349240"/>
            <a:ext cx="15819120" cy="2286000"/>
          </a:xfrm>
          <a:prstGeom prst="rect">
            <a:avLst/>
          </a:prstGeom>
          <a:solidFill>
            <a:srgbClr val="173C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623560"/>
            <a:ext cx="14904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C65D3B"/>
                </a:solidFill>
                <a:latin typeface="Montserrat"/>
              </a:rPr>
              <a:t>INSIDE THE PRODUCT: NONE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300" b="0">
                <a:solidFill>
                  <a:srgbClr val="F5EEDF"/>
                </a:solidFill>
                <a:latin typeface="Arimo"/>
              </a:rPr>
              <a:t>No AI model is queried anywhere in the prototype. The chat analysis that drafts agreement terms is transparent rule-based extraction — auditable line by line, in app/src/data/agreements.js.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AD8C8"/>
                </a:solidFill>
                <a:latin typeface="Arimo"/>
              </a:rPr>
              <a:t>Deliberate: a product whose job is to make labour records trustworthy should not start with a non-deterministic 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7818120"/>
            <a:ext cx="15819120" cy="1965960"/>
          </a:xfrm>
          <a:prstGeom prst="rect">
            <a:avLst/>
          </a:prstGeom>
          <a:solidFill>
            <a:srgbClr val="E4DC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8046720"/>
            <a:ext cx="14904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65D3B"/>
                </a:solidFill>
                <a:latin typeface="Montserrat"/>
              </a:rPr>
              <a:t>GENERATED DEMO CONTENT, AND WHAT COMES NEXT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73C2B"/>
                </a:solidFill>
                <a:latin typeface="Arimo"/>
              </a:rPr>
              <a:t>AI-generated, illustrative, not verified data: the seeded chats, the worker pool, the job posts and the Romanian interface strings (machine-translated, not professionally reviewed).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C2B"/>
                </a:solidFill>
                <a:latin typeface="Arimo"/>
              </a:rPr>
              <a:t>Planned, with safeguards: voice transcription and translation, original always shown beside it. Any future LLM agreement drafting only with both parties' consent, always citing the messages it 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